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96" r:id="rId47"/>
    <p:sldId id="297" r:id="rId48"/>
    <p:sldId id="298" r:id="rId49"/>
    <p:sldId id="261" r:id="rId7"/>
    <p:sldId id="265" r:id="rId11"/>
    <p:sldId id="266" r:id="rId12"/>
    <p:sldId id="267" r:id="rId13"/>
    <p:sldId id="270" r:id="rId16"/>
    <p:sldId id="271" r:id="rId17"/>
    <p:sldId id="272" r:id="rId18"/>
    <p:sldId id="275" r:id="rId21"/>
    <p:sldId id="276" r:id="rId22"/>
    <p:sldId id="277" r:id="rId23"/>
    <p:sldId id="281" r:id="rId27"/>
    <p:sldId id="282" r:id="rId28"/>
    <p:sldId id="283" r:id="rId29"/>
    <p:sldId id="286" r:id="rId32"/>
    <p:sldId id="287" r:id="rId33"/>
    <p:sldId id="288" r:id="rId34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4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41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27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Principles &amp; Python Implementation</a:t>
            </a:r>
          </a:p>
          <a:p>
            <a:pPr marL="0" indent="0" algn="ctr">
              <a:buNone/>
            </a:pPr>
            <a:endParaRPr lang="en-US" i="1" dirty="0">
              <a:solidFill>
                <a:srgbClr val="F5A855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F5A855"/>
                </a:solidFill>
                <a:latin typeface="Calibri" pitchFamily="34" charset="0"/>
                <a:cs typeface="Calibri" pitchFamily="34" charset="-120"/>
              </a:rPr>
              <a:t xml:space="preserve">By   MICHAEL JOHN S. RIVERA, </a:t>
            </a:r>
            <a:r>
              <a:rPr lang="en-US" i="1" dirty="0" err="1">
                <a:solidFill>
                  <a:srgbClr val="F5A855"/>
                </a:solidFill>
                <a:latin typeface="Calibri" pitchFamily="34" charset="0"/>
                <a:cs typeface="Calibri" pitchFamily="34" charset="-120"/>
              </a:rPr>
              <a:t>MBAn</a:t>
            </a:r>
            <a:endParaRPr lang="en-US" i="1" dirty="0">
              <a:solidFill>
                <a:srgbClr val="F5A855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3721608"/>
            <a:ext cx="3291840" cy="5486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Missing Values  ·  Duplicates  ·  Format Errors  ·  Outliers  ·  Incorrect Values  ·  Standardization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in the Analytics Life 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D7D759-2163-CA92-728B-0B4BAC04BDC5}"/>
              </a:ext>
            </a:extLst>
          </p:cNvPr>
          <p:cNvGrpSpPr/>
          <p:nvPr/>
        </p:nvGrpSpPr>
        <p:grpSpPr>
          <a:xfrm>
            <a:off x="256032" y="1051560"/>
            <a:ext cx="1344168" cy="3246120"/>
            <a:chOff x="256032" y="1051560"/>
            <a:chExt cx="1344168" cy="3246120"/>
          </a:xfrm>
        </p:grpSpPr>
        <p:sp>
          <p:nvSpPr>
            <p:cNvPr id="7" name="Shape 5"/>
            <p:cNvSpPr/>
            <p:nvPr/>
          </p:nvSpPr>
          <p:spPr>
            <a:xfrm>
              <a:off x="256032" y="1051560"/>
              <a:ext cx="1325880" cy="3246120"/>
            </a:xfrm>
            <a:prstGeom prst="rect">
              <a:avLst/>
            </a:prstGeom>
            <a:solidFill>
              <a:srgbClr val="1A2332"/>
            </a:solidFill>
            <a:ln w="12700">
              <a:solidFill>
                <a:srgbClr val="1A233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274320" y="1280160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📥</a:t>
              </a:r>
              <a:endParaRPr lang="en-US" sz="2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2004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Collection</a:t>
              </a:r>
              <a:endParaRPr lang="en-US" sz="12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1581912" y="1856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E4F650D-F1A1-2262-0E39-ABE584B65626}"/>
              </a:ext>
            </a:extLst>
          </p:cNvPr>
          <p:cNvGrpSpPr/>
          <p:nvPr/>
        </p:nvGrpSpPr>
        <p:grpSpPr>
          <a:xfrm>
            <a:off x="1737360" y="1051560"/>
            <a:ext cx="1325880" cy="3246120"/>
            <a:chOff x="1737360" y="1051560"/>
            <a:chExt cx="1325880" cy="3246120"/>
          </a:xfrm>
        </p:grpSpPr>
        <p:sp>
          <p:nvSpPr>
            <p:cNvPr id="11" name="Shape 9"/>
            <p:cNvSpPr/>
            <p:nvPr/>
          </p:nvSpPr>
          <p:spPr>
            <a:xfrm>
              <a:off x="1737360" y="1051560"/>
              <a:ext cx="1325880" cy="3246120"/>
            </a:xfrm>
            <a:prstGeom prst="rect">
              <a:avLst/>
            </a:prstGeom>
            <a:solidFill>
              <a:srgbClr val="1A2332"/>
            </a:solidFill>
            <a:ln w="12700">
              <a:solidFill>
                <a:srgbClr val="1A233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1737360" y="1280160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🔍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78308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EDA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3044952" y="1856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1653CD-EB2D-F2FE-3128-295FF11EE580}"/>
              </a:ext>
            </a:extLst>
          </p:cNvPr>
          <p:cNvGrpSpPr/>
          <p:nvPr/>
        </p:nvGrpSpPr>
        <p:grpSpPr>
          <a:xfrm>
            <a:off x="3200400" y="1051560"/>
            <a:ext cx="1325880" cy="3246120"/>
            <a:chOff x="3200400" y="1051560"/>
            <a:chExt cx="1325880" cy="3246120"/>
          </a:xfrm>
        </p:grpSpPr>
        <p:sp>
          <p:nvSpPr>
            <p:cNvPr id="15" name="Shape 13"/>
            <p:cNvSpPr/>
            <p:nvPr/>
          </p:nvSpPr>
          <p:spPr>
            <a:xfrm>
              <a:off x="3200400" y="1051560"/>
              <a:ext cx="1325880" cy="3246120"/>
            </a:xfrm>
            <a:prstGeom prst="rect">
              <a:avLst/>
            </a:prstGeom>
            <a:solidFill>
              <a:srgbClr val="1A2332"/>
            </a:solidFill>
            <a:ln w="12700">
              <a:solidFill>
                <a:srgbClr val="1A233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3200400" y="1280160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📋</a:t>
              </a:r>
              <a:endParaRPr lang="en-US" sz="2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24612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Policies</a:t>
              </a:r>
              <a:endParaRPr lang="en-US" sz="12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4507992" y="1856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F5157F-F0CB-5A06-708B-5F91D6305C28}"/>
              </a:ext>
            </a:extLst>
          </p:cNvPr>
          <p:cNvGrpSpPr/>
          <p:nvPr/>
        </p:nvGrpSpPr>
        <p:grpSpPr>
          <a:xfrm>
            <a:off x="4663440" y="1051560"/>
            <a:ext cx="1325880" cy="3246120"/>
            <a:chOff x="4663440" y="1051560"/>
            <a:chExt cx="1325880" cy="3246120"/>
          </a:xfrm>
        </p:grpSpPr>
        <p:sp>
          <p:nvSpPr>
            <p:cNvPr id="19" name="Shape 17"/>
            <p:cNvSpPr/>
            <p:nvPr/>
          </p:nvSpPr>
          <p:spPr>
            <a:xfrm>
              <a:off x="4663440" y="1051560"/>
              <a:ext cx="1325880" cy="3246120"/>
            </a:xfrm>
            <a:prstGeom prst="rect">
              <a:avLst/>
            </a:prstGeom>
            <a:solidFill>
              <a:srgbClr val="1B6B3A"/>
            </a:solidFill>
            <a:ln w="12700">
              <a:solidFill>
                <a:srgbClr val="F5A8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20" name="Text 18"/>
            <p:cNvSpPr/>
            <p:nvPr/>
          </p:nvSpPr>
          <p:spPr>
            <a:xfrm>
              <a:off x="4663440" y="1280160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🧹</a:t>
              </a:r>
              <a:endParaRPr lang="en-US" sz="2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0916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Cleaning</a:t>
              </a:r>
              <a:endParaRPr lang="en-US" sz="12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00600" y="2834640"/>
              <a:ext cx="1051560" cy="45720"/>
            </a:xfrm>
            <a:prstGeom prst="rect">
              <a:avLst/>
            </a:prstGeom>
            <a:solidFill>
              <a:srgbClr val="F5A855"/>
            </a:solidFill>
            <a:ln w="12700">
              <a:solidFill>
                <a:srgbClr val="F5A855"/>
              </a:solidFill>
              <a:prstDash val="solid"/>
            </a:ln>
          </p:spPr>
        </p:sp>
      </p:grpSp>
      <p:sp>
        <p:nvSpPr>
          <p:cNvPr id="23" name="Text 21"/>
          <p:cNvSpPr/>
          <p:nvPr/>
        </p:nvSpPr>
        <p:spPr>
          <a:xfrm>
            <a:off x="1737361" y="3461004"/>
            <a:ext cx="4233671" cy="594360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/>
              <a:t>Data Cleaning</a:t>
            </a:r>
          </a:p>
        </p:txBody>
      </p:sp>
      <p:sp>
        <p:nvSpPr>
          <p:cNvPr id="24" name="Text 22"/>
          <p:cNvSpPr/>
          <p:nvPr/>
        </p:nvSpPr>
        <p:spPr>
          <a:xfrm>
            <a:off x="5971032" y="1856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0DBDD82-07F5-6FC9-FBE6-BC6D189FB0D0}"/>
              </a:ext>
            </a:extLst>
          </p:cNvPr>
          <p:cNvGrpSpPr/>
          <p:nvPr/>
        </p:nvGrpSpPr>
        <p:grpSpPr>
          <a:xfrm>
            <a:off x="6126480" y="1051560"/>
            <a:ext cx="1325880" cy="3246120"/>
            <a:chOff x="6126480" y="1051560"/>
            <a:chExt cx="1325880" cy="3246120"/>
          </a:xfrm>
        </p:grpSpPr>
        <p:sp>
          <p:nvSpPr>
            <p:cNvPr id="25" name="Shape 23"/>
            <p:cNvSpPr/>
            <p:nvPr/>
          </p:nvSpPr>
          <p:spPr>
            <a:xfrm>
              <a:off x="6126480" y="1051560"/>
              <a:ext cx="1325880" cy="3246120"/>
            </a:xfrm>
            <a:prstGeom prst="rect">
              <a:avLst/>
            </a:prstGeom>
            <a:solidFill>
              <a:srgbClr val="1A2332"/>
            </a:solidFill>
            <a:ln w="12700">
              <a:solidFill>
                <a:srgbClr val="1A233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6126480" y="1280160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📊</a:t>
              </a:r>
              <a:endParaRPr lang="en-US" sz="2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17220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 &amp;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Modeling</a:t>
              </a:r>
              <a:endParaRPr lang="en-US" sz="12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7434072" y="1856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5BB6F4B-EA4F-BAF8-041A-A592DAF125E7}"/>
              </a:ext>
            </a:extLst>
          </p:cNvPr>
          <p:cNvGrpSpPr/>
          <p:nvPr/>
        </p:nvGrpSpPr>
        <p:grpSpPr>
          <a:xfrm>
            <a:off x="7589520" y="1051560"/>
            <a:ext cx="1371600" cy="3246120"/>
            <a:chOff x="7589520" y="1051560"/>
            <a:chExt cx="1371600" cy="3246120"/>
          </a:xfrm>
        </p:grpSpPr>
        <p:sp>
          <p:nvSpPr>
            <p:cNvPr id="29" name="Shape 27"/>
            <p:cNvSpPr/>
            <p:nvPr/>
          </p:nvSpPr>
          <p:spPr>
            <a:xfrm>
              <a:off x="7589520" y="1051560"/>
              <a:ext cx="1325880" cy="3246120"/>
            </a:xfrm>
            <a:prstGeom prst="rect">
              <a:avLst/>
            </a:prstGeom>
            <a:solidFill>
              <a:srgbClr val="1A2332"/>
            </a:solidFill>
            <a:ln w="12700">
              <a:solidFill>
                <a:srgbClr val="1A233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635240" y="1412748"/>
              <a:ext cx="1325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📣</a:t>
              </a:r>
              <a:endParaRPr lang="en-US" sz="2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635240" y="1984248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Reporting &amp;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</a:t>
              </a:r>
              <a:endParaRPr lang="en-US" sz="12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347472" y="4462272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does not happen in isolation — it is informed by EDA findings and business policy constraints.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298448" cy="36118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63624" y="2331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64792" y="914400"/>
            <a:ext cx="1298448" cy="36118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64792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65960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9656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08376" y="2331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9544" y="914400"/>
            <a:ext cx="1298448" cy="3611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9544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09544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Errors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53128" y="2331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54296" y="914400"/>
            <a:ext cx="1298448" cy="3611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54296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54296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55464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2331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99048" y="914400"/>
            <a:ext cx="1298448" cy="36118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99048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099048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0216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42632" y="2331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543800" y="914400"/>
            <a:ext cx="1298448" cy="36118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43800" y="1115568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543800" y="18105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44968" y="2423160"/>
            <a:ext cx="8961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2578608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26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part: Theory (definition + types + when to apply) → Python/pandas implementation → Before &amp; After examples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1: MISSING VALUES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This dataset has 860 missing values across 5 columns — some as empty cells, some as the string 'N/A'. Write pandas code to: (a) count nulls per column, (b) detect 'N/A' strings in gpa, (c) drop rows where last_name is empty, (d) fill missing gpa with the column median.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34886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2318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9731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7163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64577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2009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79423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6855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yr_lvl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94269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1701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09114" y="1664208"/>
            <a:ext cx="1214846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6546" y="1682496"/>
            <a:ext cx="1159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202408933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34886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62318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 Pedro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9731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7163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Clifford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64577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2009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79423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6855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94269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1701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09114" y="201168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6546" y="203911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202408998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534886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62318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Obando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9731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7163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Ryan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64577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92009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79423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6855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94269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1701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09114" y="2414016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6546" y="2441448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202403897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534886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62318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Natividad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9731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77163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964577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92009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179423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06855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94269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1701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609114" y="2816352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36546" y="2843784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202401999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534886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62318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Reyes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749731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77163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Rowena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964577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92009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179423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06855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394269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21701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609114" y="3218688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36546" y="3246120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0040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202401258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534886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62318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9731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77163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Bryson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64577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92009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179423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06855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94269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21701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1.54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609114" y="3621024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36546" y="3648456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0040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7472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202408911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1534886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62318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749731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77163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964577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92009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179423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06855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394269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21701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1.57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7609114" y="4023360"/>
            <a:ext cx="1214846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36546" y="4050792"/>
            <a:ext cx="1159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✏️  Open your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Notebook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10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518 null gpa + 81 N/A strings; ~120 null last_name; ~160 null email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GPA nullable for 1st-semester students. N/A is not a valid null. last_name is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MISSING VALUES  —  Detect · Replace N/A string · Drop nulls · Impute median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pd.read_csv('students_dirty_10k.csv')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Count nulls — blank cells load as 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gpa: ~518   email: ~160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last_name: ~120  contact_no: ~120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Detect 'N/A' string (NOT caught by isnull)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print(df[df['gpa']=='N/A'].shape)  # ~81 rows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Replace 'N/A' string with actual 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df.replace('N/A', np.nan, inplace=True)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Drop rows where last_name is null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df.dropna(subset=['last_name'],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inplace=True)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(d) Fill missing gpa with column median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median_gpa = df['gpa'].median()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df['gpa'].fillna(median_gpa,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inplace=True)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817474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54066" y="1261872"/>
            <a:ext cx="817474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2354" y="1280160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71539" y="1261872"/>
            <a:ext cx="817474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9827" y="1280160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89013" y="1261872"/>
            <a:ext cx="817474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7301" y="1280160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06486" y="1261872"/>
            <a:ext cx="817474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4774" y="1280160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6592" y="159105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1848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202408933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54066" y="159105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2354" y="161848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 Pedro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71539" y="159105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9827" y="161848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89013" y="159105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7301" y="161848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gpa filled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6486" y="159105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4774" y="161848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195681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8424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202408998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54066" y="195681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2354" y="198424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Obando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71539" y="195681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9827" y="198424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89013" y="195681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7301" y="198424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gpa filled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06486" y="195681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4774" y="198424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232257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35000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202403897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54066" y="232257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2354" y="235000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Natividad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71539" y="232257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9827" y="235000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89013" y="232257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7301" y="235000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 → NaN → filled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06486" y="232257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24774" y="235000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268833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71576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202401258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54066" y="268833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2354" y="271576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 last_name)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71539" y="268833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9827" y="271576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89013" y="268833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7301" y="271576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row DROPPED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06486" y="2688336"/>
            <a:ext cx="817474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24774" y="271576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36592" y="305409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08152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202408911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54066" y="305409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2354" y="308152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 last_name)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71539" y="305409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89827" y="308152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89013" y="305409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07301" y="308152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row DROPPED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006486" y="3054096"/>
            <a:ext cx="8174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24774" y="3081528"/>
            <a:ext cx="78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Python (pandas)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841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3931920" cy="2212848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80160"/>
            <a:ext cx="3694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missing per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Percentage missing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df.isnull().mean() * 100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Rows with ANY missing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df[df.isnull().any(axis=1)]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in a specific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df[df['email'].isnull()]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841248"/>
            <a:ext cx="4334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1170432"/>
            <a:ext cx="4334256" cy="2212848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1280160"/>
            <a:ext cx="4096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rows (required field)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df.dropna(subset=['last_name'])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with constant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df['rating'].fillna(0)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with mean / median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df['age'].fillna(df['age'].mean())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df['salary'].fillna(df['salary'].median())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 fill (time-series)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df['score'].ffill()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520440"/>
            <a:ext cx="1719072" cy="34747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3520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76672" y="35204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931920"/>
            <a:ext cx="1737360" cy="47548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57984" y="3931920"/>
            <a:ext cx="310896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39867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76672" y="3931920"/>
            <a:ext cx="3438144" cy="475488"/>
          </a:xfrm>
          <a:prstGeom prst="rect">
            <a:avLst/>
          </a:prstGeom>
          <a:solidFill>
            <a:srgbClr val="EBF7F0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39867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/ dropped per rule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4462272"/>
            <a:ext cx="1737360" cy="47548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4622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57984" y="4462272"/>
            <a:ext cx="310896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9424" y="4517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76672" y="4462272"/>
            <a:ext cx="3438144" cy="475488"/>
          </a:xfrm>
          <a:prstGeom prst="rect">
            <a:avLst/>
          </a:prstGeom>
          <a:solidFill>
            <a:srgbClr val="EBF7F0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5171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(default per policy)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2: DUPLICATE RECORDS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dataset has ~200 duplicate student_id values — some exact copies, some with a different email. Write pandas code to: (a) find all rows with a duplicated student_id, (b) count total duplicate rows, (c) remove duplicates keeping the first occurrence.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602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345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9798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541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202400534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4602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345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Delos Reyes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Maricel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9798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541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alt_mariceldelosreyes4@uni.edu.ph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202400534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4602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7345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Delos Reyes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Maricel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798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541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mariceldelosreyes4@uni.edu.ph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202401843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4602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345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Jimenez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9798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541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carlosjimenez75@uni.edu.ph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202401843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4602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7345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Jimenez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9798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541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carlosjimenez75@uni.edu.ph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202401813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44602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7345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Castillo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943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Rafael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9798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541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rafaelcastillo93@uni.edu.ph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202401813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44602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7345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Castillo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943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Rafael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9798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541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alt_rafaelcastillo93@uni.edu.ph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Open your Python editor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15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400 rows with duplicate student_id — some exact copies, some with different email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student_id must be unique. One record per student per semester. Keep first occurrence.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DUPLICATE RECORDS  —  Detect · Count · Remove keeping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Find all rows with duplicated student_id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dupes = df['student_id'].duplicated(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print(df[dupes][['student_id','last_name',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'email']].head(10))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~400 rows flagged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Count exact full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print("Full dupes:",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df.duplicated().sum())     # ~150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print("ID dupes:",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df['student_id']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.duplicated(keep=False)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.sum())                    # ~400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Drop — keep first occurrence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subset=['student_id'],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keep='first',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df.reset_index(drop=True,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inplace=True)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print("Rows after:", len(df))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8434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6722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80276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8564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02118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0406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202400534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58434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6722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Delos Reyes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0276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Maricel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02118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0406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(first)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202400534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8434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6722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(duplicate)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0276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8564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Maricel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02118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0406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dropped 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202401843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8434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6722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Jimenez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80276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8564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2118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0406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(first)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8434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6722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(duplicate)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0276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8564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02118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0406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dropped 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202401813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8434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6722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Castillo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80276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8564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Rafael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02118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0406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(first)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— Python (pandas)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4224528" cy="32461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978408"/>
            <a:ext cx="39867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for full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all duplicate rows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df[df.duplicated(keep=False)]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Duplicates by specific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df[df['student_id'].duplicated(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Drop: keep first occurrence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subset=['student_id'],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keep='first',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Drop: keep last occurrence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subset=['student_id'],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keep='last'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41648" cy="32461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82896" y="978408"/>
            <a:ext cx="38039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row with fewest nulls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(most complete record)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df['null_count'] = df.isnull().sum(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axis=1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df_sorted = df.sort_values(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['student_id','null_count']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df_sorted.drop_duplicates(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subset=['student_id'],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keep='first'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).drop(columns='null_count')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Reset index after dropping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df_clean.reset_index(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drop=True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4251960"/>
            <a:ext cx="8449056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15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Business Rule Reminder: Who decides which duplicate to keep — first, last, or most complete? Always confirm with the domain expert before applying .drop_duplicates().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3: FORMAT &amp; STRUCTURAL ERRORS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dataset has ~160 ALL-CAPS last names, ~180 gender variants, ~130 names with whitespace, and ~140 enrollment_status casing errors. Write pandas code to: (a) strip whitespace from first_name, (b) standardize gender, (c) fix enrollment_status casing.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700784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0824" y="1664208"/>
            <a:ext cx="1700784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21608" y="1664208"/>
            <a:ext cx="1700784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22392" y="1664208"/>
            <a:ext cx="1700784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23176" y="1664208"/>
            <a:ext cx="1700784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01168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202403710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20824" y="201168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GARCIA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201168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22392" y="201168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23176" y="201168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414016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441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202400198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20824" y="2414016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8256" y="2441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VILLANUEVA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21608" y="2414016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441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22392" y="2414016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9824" y="2441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23176" y="2414016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2441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816352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843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202403626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20824" y="2816352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8256" y="2843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Cabrera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21608" y="2816352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2843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22392" y="2816352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9824" y="2843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23176" y="2816352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2843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218688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202409450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020824" y="3218688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48256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21608" y="3218688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0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22392" y="3218688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49824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23176" y="3218688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0608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3621024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648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202405223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20824" y="3621024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48256" y="3648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Alcantara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721608" y="3621024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49040" y="3648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Pedro  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22392" y="3621024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9824" y="3648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123176" y="3621024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50608" y="3648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040" y="402336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202400626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020824" y="402336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48256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Fajardo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721608" y="402336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Patrick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422392" y="402336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49824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123176" y="4023360"/>
            <a:ext cx="1700784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50608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Open your Python editor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20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~160 ALL-CAPS last names; ~180 gender variants; ~130 whitespace names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Names in Title Case per data entry standard. Gender must be M or F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FORMAT &amp; STRUCTURAL ERRORS  —  Whitespace · Gender casing · Status casing · Name casing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Strip whitespace from first_name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df['first_name']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df['first_name'].str.strip()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~130 rows fixed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Standardize gender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gender_map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'male':'M',   'Male':'M',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'MALE':'M',   'm':'M',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'female':'F', 'Female':'F',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'FEMALE':'F', 'f':'F'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df['gender'].replace(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gender_map,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~180 rows fixed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Fix enrollment_status casing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status_map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'enrolled':'Enrolled',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'ENROLLED':'Enrolled',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'Enrolld':'Enrolled',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'loa':'LOA', 'Loa':'LOA',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'dropped':'Dropped',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'DROPPED':'Dropped'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df['enrollment_status'].replace(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status_map,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~140 rows fixed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8434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6722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 / gender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80276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8564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02118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0406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202403710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58434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6722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GARCIA → Garcia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0276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02118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0406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202403626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8434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6722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→ 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0276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8564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02118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0406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202405223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8434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6722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Pedro   → Pedro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80276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8564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2118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0406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202400626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8434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6722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 → Enrolled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0276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8564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02118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0406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202409450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8434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6722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→ 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80276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8564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02118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0406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Structural Errors — Python (pandas)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4224528" cy="384048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978408"/>
            <a:ext cx="398678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CASING 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Lowercase all text in a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 = df['gender'].str.lower()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Uppercase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df['status'] = df['status'].str.upper()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case (for names)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df['last_name']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df['last_name'].str.title()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WHITESPACE 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df['name'].str.strip()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SPECIAL CHARACTERS 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df['name'].str.replace(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r'[^a-zA-Z\s]', '', regex=True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868680"/>
            <a:ext cx="4059936" cy="384048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978408"/>
            <a:ext cx="382219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DATA TYPES 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current types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string to integer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df['age'].astype(int)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float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df['salary'] = df['salary'].astype(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float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DATE FORMAT 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df['date'],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format='%m/%d/%Y',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errors='coerce'  # NaT if fails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REPLACE PLACEHOLDERS 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df.replace('N/A', pd.NA, inplace=True)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df.replace('', pd.NA, inplace=True)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4800600"/>
            <a:ext cx="8449056" cy="256032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188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run df.dtypes and df.head() after type conversions to confirm the change was applied correctly.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4: OUTLIER DETECTION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dataset has ~300 age outliers (extreme, negative, zero) and ~330 gpa outliers (above 5.00 or below 1.00). Write pandas code to: (a) use IQR on age to detect outliers, (b) apply domain rule for gpa (valid: 1.00–3.50), (c) remove both groups.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202409191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3736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Mendoza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Renz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0664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407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202404626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3736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6479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Leon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959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932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1675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202407003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73736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6479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Lacson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5468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8211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943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8932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0664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3407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202401917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73736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6479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Castillo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15468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8211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Dominic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943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-23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40664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3407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BSECE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747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202404455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73736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6479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Bonifacio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15468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8211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943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98932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1675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5.81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40664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3407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BSBA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202402604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73736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6479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Macaraeg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15468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8211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Clara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57200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9943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98932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1675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40664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3407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BSED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Open your Python editor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26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~300 age outliers (0, 999, negative); ~330 GPA values outside 1.00-3.50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Age: 16-26 per enrollment policy. GPA: 1.00-3.50 per Philippine grading scale.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OUTLIER DETECTION  —  IQR on age · Domain rule on gpa · Remove both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pd.read_csv('students_dirty_10k.csv')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pd.to_numeric(df['age'],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errors='coerce')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df['gpa'] = pd.to_numeric(df['gpa'],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errors='coerce')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IQR method on 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df['age'].quantile(0.25)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df['age'].quantile(0.75)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bad_age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(df['age'] &lt; Q1 - 1.5*IQR)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(df['age'] &gt; Q3 + 1.5*IQR)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(df['age'] &lt;=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 outliers:", bad_age.sum())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~300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GPA domain rule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bad_gpa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(df['gpa'] &lt; 1.0)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(df['gpa'] &gt; 3.5)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print("GPA outliers:", bad_gpa.sum())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~330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Remove both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df[~bad_age &amp; ~bad_gpa].copy()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print("Remaining rows:", len(df))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8434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6722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80276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8564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02118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0406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202409191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58434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6722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0276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02118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0406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outlier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202404626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8434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6722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0276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8564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02118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0406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outlier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202407003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8434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6722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80276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8564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2118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0406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negative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202404455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8434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6722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5.81 gpa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0276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8564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02118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0406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&gt; 3.50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202402604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8434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6722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 gpa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80276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8564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02118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0406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&lt; 1.00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Python (pandas)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4224528" cy="374904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978408"/>
            <a:ext cx="39867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Z-SCORE METHOD 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z_scores = np.abs(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stats.zscore(df['salary'].dropna())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Flag rows where z &gt;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outliers_z = df[z_scores &gt; 3]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print(f"Outliers: {len(outliers_z)}")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IQR METHOD 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df['salary'].quantile(0.25)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df['salary'].quantile(0.75)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outliers_iqr = df[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(df['salary'] &lt; lower)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(df['salary'] &gt; upper)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868680"/>
            <a:ext cx="4059936" cy="374904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9784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DOMAIN THRESHOLD 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Based on business rule: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salary must be between 500-200000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invalid_sal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(df['salary'] &lt; 500)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(df['salary'] &gt; 200000)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df[invalid_sal]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TREATMENT: WINSORIZE 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 at upper/lower bounds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df['salary'] = df['salary'].clip(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lower=lower, upper=upper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TREATMENT: REMOVE 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df[~invalid_sal].copy()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QUICK VISUAL CHECK 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df.boxplot(column=['salary'])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df['salary'].describe()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4709160"/>
            <a:ext cx="8449056" cy="201168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2744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before and after: df['salary'].hist()  or  df.boxplot()  to confirm the treatment had the intended effect.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5: INCORRECT VALUES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dataset has ~180 impossible year_level values, ~150 invalid gender categories, ~220 wrong-domain emails, and ~100 test/placeholder records. Write pandas code to detect and flag each group — do NOT auto-remove without checking.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yr_lvl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1664208"/>
            <a:ext cx="141732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1682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202408272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3736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Rosario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06640" y="201168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407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francisdelrosario81@uni.edu.ph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202402693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3736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6479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Hidalgo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932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1675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2414016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24414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ramonhidalgo68@uni.edu.ph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202403190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73736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6479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Hidalgo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5468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8211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943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8932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06640" y="2816352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34072" y="28437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ninahidalgo98@uni.edu.ph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202408663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73736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6479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Ilustre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15468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8211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Adrian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943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406640" y="3218688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34072" y="32461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adrianilustre59@uni.edu.ph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747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202401872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73736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6479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15468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8211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943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98932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1675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406640" y="3621024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34072" y="36484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mark48@protonmail.com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202405027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73736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6479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15468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8211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57200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9943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98932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1675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406640" y="4023360"/>
            <a:ext cx="141732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34072" y="4050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sample@uni.edu.ph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Open your Python editor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31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~180 impossible year_level values; ~150 invalid gender codes; ~100 placeholder records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year_level: 1-5 only. Gender: M or F only. Institutional email only. No dummy records.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INCORRECT VALUES  —  Year level · Invalid gender · Wrong email domain · Placeholders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valid_gender = ['M','F','Prefer not to say']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test_names   = ['test','xxx','sample','n/a',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'unknown','asdf','temp','dummy']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Invalid year_level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bad_yr = ~df['year_level'].astype(str).apply(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lambda x: x.isdigit()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1 &lt;= int(x) &lt;=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print("Bad year_level:", bad_yr.sum())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~180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Invalid gender category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bad_gender = ~df['gender'].isin(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valid_gender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print("Bad gender:", bad_gender.sum())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~150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Wrong email domain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bad_email = ~df['email'].str.endswith(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'@uni.edu.ph', na=False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df['email_flag'] = bad_email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print("Bad email:", bad_email.sum())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~220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(d) Placeholder 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is_test = df['last_name'].str.lower(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).isin(test_names)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print("Test records:", is_test.sum())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~100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year_level, gender, test 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df[~bad_yr &amp; ~bad_gender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&amp; ~is_test].copy()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8434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6722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80276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8564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02118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0406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202408272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58434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6722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yr=7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0276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02118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0406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year_level invalid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202403190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8434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6722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gender=none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0276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8564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02118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0406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202401872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8434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6722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protonmail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80276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8564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flagged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2118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0406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email_flag=True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202405027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8434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6722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sample/sample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0276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8564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02118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0406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 record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202408663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8434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6722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gender=unknown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80276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8564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02118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0406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category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Values — Python (pandas)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4224528" cy="329184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978408"/>
            <a:ext cx="398678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RULE VIOLATION 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year_level must be 1–5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invalid_yr = ~df['year_level'].between(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1, 5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df[invalid_yr]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INVALID CATEGORY 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valid_gender = ['M', 'F',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'Prefer not to say']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invalid_g = ~df['gender'].isin(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valid_gender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df.loc[invalid_g, 'gender'] = pd.NA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LOGICAL INCONSISTENCY 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 year cannot be before enroll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illogical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df['grad_year'] &lt;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df['enrollment_year']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df[illogical]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868680"/>
            <a:ext cx="4059936" cy="329184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978408"/>
            <a:ext cx="382219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PLACEHOLDER DETECTION 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Flag suspicious name entries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test_names = ['test','unknown',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'n/a','xxx','sample']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suspect = df['last_name'].str.lower(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).isin(test_names)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df[suspect]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CROSS-COLUMN VALIDATION 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 vs year level consistency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(year 1 student aged 60 is odd)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(df['year_level'] == 1)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(df['age'] &gt; 50)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df[flag]  # Review — don't auto-drop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CORRECT KNOWN ERRORS 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 common misspellings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df['gender'].replace({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'male':'M', 'female':'F',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'Male':'M', 'Female':'F'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inplace=True)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4279392"/>
            <a:ext cx="8449056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434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Incorrect values require the most judgment. When in doubt, FLAG the record — do not silently drop or correct without business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—  PART 6: STANDARDIZATION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9264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dataset has ~145 contact numbers with dashes, ~150 with wrong digit count, ~200 inconsistent department codes, and ~100 stripped student IDs. Write pandas code to: (a) remove dashes from contact_no, (b) flag wrong-length contacts, (c) standardize department codes.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602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345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contact_no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97980" y="1664208"/>
            <a:ext cx="2125980" cy="32918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5412" y="1682496"/>
            <a:ext cx="2071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202401872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4602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345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0983-234-4261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97980" y="201168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5412" y="203911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01168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202404328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4602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7345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Macaraeg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0946-994-9756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7980" y="2414016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5412" y="244144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414016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202408375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4602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345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Hernandez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09396124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97980" y="2816352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5412" y="2843784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2816352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202409005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4602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7345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Fernandez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097731334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97980" y="3218688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5412" y="324612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BSCS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218688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202404590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44602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7345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Villanueva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943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09975081753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97980" y="3621024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5412" y="364845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B.S.B.A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3621024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202405223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44602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7345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Alcantara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943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09984576710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97980" y="4023360"/>
            <a:ext cx="21259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5412" y="4050792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" y="4023360"/>
            <a:ext cx="64008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80060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Open your Python editor · Load students_dirty.csv · Write code to detect and fix the issues highlighted above (amber = problem cell)</a:t>
            </a:r>
            <a:endParaRPr lang="en-US" sz="1000" dirty="0"/>
          </a:p>
        </p:txBody>
      </p:sp>
      <p:sp>
        <p:nvSpPr>
          <p:cNvPr id="9901" name="TriggeredBy_36"/>
          <p:cNvSpPr txBox="1">
            <a:spLocks noGrp="1" noRot="1"/>
          </p:cNvSpPr>
          <p:nvPr/>
        </p:nvSpPr>
        <p:spPr>
          <a:xfrm>
            <a:off x="342900" y="4800600"/>
            <a:ext cx="8686800" cy="205740"/>
          </a:xfrm>
          <a:prstGeom prst="rect">
            <a:avLst/>
          </a:prstGeom>
          <a:solidFill>
            <a:srgbClr val="1A2332"/>
          </a:solidFill>
          <a:ln w="12700">
            <a:solidFill>
              <a:srgbClr val="E07B2A"/>
            </a:solidFill>
          </a:ln>
        </p:spPr>
        <p:txBody>
          <a:bodyPr wrap="square" lIns="91440" rIns="91440" tIns="22860" bIns="22860" anchor="ctr"/>
          <a:lstStyle/>
          <a:p>
            <a:pPr algn="l"/>
            <a:r>
              <a:rPr lang="en-US" sz="800" b="1" dirty="0">
                <a:solidFill>
                  <a:srgbClr val="E07B2A"/>
                </a:solidFill>
                <a:latin typeface="Calibri"/>
              </a:rPr>
              <a:t xml:space="preserve">TRIGGERED BY 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 xml:space="preserve">EDA: ~145 contact_no with dashes; ~150 wrong digit count; ~200 inconsistent department codes    </a:t>
            </a:r>
            <a:r>
              <a:rPr lang="en-US" sz="800" b="1" dirty="0">
                <a:solidFill>
                  <a:srgbClr val="2A9D5C"/>
                </a:solidFill>
                <a:latin typeface="Calibri"/>
              </a:rPr>
              <a:t xml:space="preserve">RULE: </a:t>
            </a:r>
            <a:r>
              <a:rPr lang="en-US" sz="800" b="0" dirty="0">
                <a:solidFill>
                  <a:srgbClr val="FFFFFF"/>
                </a:solidFill>
                <a:latin typeface="Calibri"/>
              </a:rPr>
              <a:t>contact_no: 11 digits, no dashes. Department: one of 10 approved codes only.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STANDARDIZATION  —  Contact format · Department codes · Name casing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278892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" y="1069848"/>
            <a:ext cx="4014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valid_depts = ['BSIT','BSCS','BSECE','BSME',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'BSCE','BSN','BSBA','BSED',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'BSPSYCH','BSCRIM']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Remove dashes from contact_no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df['contact_no']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df['contact_no']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.str.replace('-','', regex=False)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~145 dashes removed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Flag wrong-length contacts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bad_contact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df['contact_no'].notna()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(df['contact_no'].str.len() != 11)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print("Wrong length:", bad_contact.sum())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~150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Standardize department codes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dept_map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 IT':'BSIT', 'bsit':'BSIT',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'B.S.I.T':'BSIT','Bsit':'BSIT',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 CS':'BSCS', 'bscs':'BSCS',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'B.S.C.S':'BSCS','Bscs':'BSCS',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 ECE':'BSECE','bsece':'BSECE',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'B.S.E.C.E':'BSECE',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'BS BA':'BSBA', 'bsba':'BSBA',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'B.S.B.A':'BSBA'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df['department'].replace(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dept_map,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still_bad = ~df['department'].isin(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valid_depts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print("Unknown depts:", still_bad.sum())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6592" y="96012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8434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6722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80276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8564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02118" y="1261872"/>
            <a:ext cx="1021842" cy="31089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0406" y="1280160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202401872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58434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6722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0983-234-4261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0276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09832344261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02118" y="159105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0406" y="161848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202408375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8434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6722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09396124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0276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8564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flagged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02118" y="195681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0406" y="198424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length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202404590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8434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6722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B.S.B.A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80276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8564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BSBA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2118" y="232257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0406" y="235000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202405223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8434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6722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0276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8564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BSIT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02118" y="2688336"/>
            <a:ext cx="1021842" cy="347472"/>
          </a:xfrm>
          <a:prstGeom prst="rect">
            <a:avLst/>
          </a:prstGeom>
          <a:solidFill>
            <a:srgbClr val="EBF7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0406" y="271576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202409005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8434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6722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097731334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80276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8564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flagged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02118" y="3054096"/>
            <a:ext cx="102184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0406" y="3081528"/>
            <a:ext cx="985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length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A2332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" y="39319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to observe: Check df.shape before and after. Always validate with df.isnull().sum() and df.describe() to confirm the fix worked as expected.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Hands-On  |  Python (pandas)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 Validation &amp; Documentation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82296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is not complete until you verify the output AND record what you did.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4096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 Checklist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096512" cy="2542032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755648"/>
            <a:ext cx="385876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Shape: rows removed?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print(df_clean.shape)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values resolved?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df_clean.isnull().sum()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duplicates remain?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df_clean.duplicated().sum()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types correct?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df_clean.dtypes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ranges valid?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df_clean.describe()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Spot-check sample rows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df_clean.sample(10)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1261872"/>
            <a:ext cx="4178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Cleaning Log (Required)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64208"/>
            <a:ext cx="4178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row 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0920" y="17373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066544"/>
            <a:ext cx="4178808" cy="384048"/>
          </a:xfrm>
          <a:prstGeom prst="rect">
            <a:avLst/>
          </a:prstGeom>
          <a:solidFill>
            <a:srgbClr val="F5F7F5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 (nulls)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21396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468880"/>
            <a:ext cx="4178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542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 (dupes)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5420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871216"/>
            <a:ext cx="4178808" cy="384048"/>
          </a:xfrm>
          <a:prstGeom prst="rect">
            <a:avLst/>
          </a:prstGeom>
          <a:solidFill>
            <a:srgbClr val="F5F7F5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443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corrected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9443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values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178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3467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imputed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33467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values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675888"/>
            <a:ext cx="4178808" cy="384048"/>
          </a:xfrm>
          <a:prstGeom prst="rect">
            <a:avLst/>
          </a:prstGeom>
          <a:solidFill>
            <a:srgbClr val="F5F7F5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row count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37490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1,220 rows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4078224"/>
            <a:ext cx="4178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cleaned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2025-01-15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4480560"/>
            <a:ext cx="4178808" cy="384048"/>
          </a:xfrm>
          <a:prstGeom prst="rect">
            <a:avLst/>
          </a:prstGeom>
          <a:solidFill>
            <a:srgbClr val="F5F7F5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553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45537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4315968"/>
            <a:ext cx="8449056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708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document?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professional practice, every cleaning decision must be traceable, reproducible, and justifiable. A cleaned dataset without a cleaning log is unverifiable and unpublishable.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Cleaning Pipeline — Python Template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920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Data Cleaning — Theory &amp; Practice  |  Python (pandas)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41248"/>
            <a:ext cx="4224528" cy="406908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950976"/>
            <a:ext cx="398678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 &amp; PROFILE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pd.read_csv('students_dirty_10k.csv')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print("Shape:", df.shape)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REPLACE STRING PLACEHOLDERS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df.replace('N/A', np.nan, inplace=True)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MISSING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df.dropna(subset=['last_name',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'first_name'],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inplace=True)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df['gpa'].fillna(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df['gpa'].median(),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subset=['student_id'],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keep='first',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841248"/>
            <a:ext cx="4059936" cy="4069080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950976"/>
            <a:ext cx="3822192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FORMAT &amp; TYPE FIXES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df['first_name']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df['first_name'].str.strip()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.str.title()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df['last_name']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df['last_name'].str.title()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df['gender'].replace(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{'male':'M','Male':'M','MALE':'M',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'm':'M','female':'F','Female':'F',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'FEMALE':'F','f':'F'}, inplace=True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df['contact_no']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df['contact_no']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.str.replace('-','',regex=False)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CONVERT NUMERIC COLUMNS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pd.to_numeric(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df['age'], errors='coerce')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df['gpa'] = pd.to_numeric(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df['gpa'], errors='coerce')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 OUTLIERS &amp; INCORRECT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df[df['age'].between(17,35)]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df[df['gpa'].between(1.0,3.5)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| df['gpa'].isna()]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df[df['year_level'].astype(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str).str.match(r'^[1-5]$')]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8. VALIDATE &amp; SAVE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print("Cleaned:", df.shape)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df.to_csv('students_clean.csv',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index=False)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4572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78992"/>
            <a:ext cx="347472" cy="34747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is a systematic, rule-governed process — not guesswork. Every decision must be justifiable.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" y="173736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556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types: Missing Values, Duplicates, Format Errors, Outliers, Incorrect Values, and Standardization each require different detection and treatment strategies.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" y="2395728"/>
            <a:ext cx="347472" cy="34747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140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43230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tells you what is wrong. Business policies tell you why it is wrong. Data cleaning is how you fix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" y="3054096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0906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Python/pandas, each cleaning type translates into Boolean conditions, string methods, type conversions, or statistical bounds.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3712464"/>
            <a:ext cx="347472" cy="34747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307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37490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after cleaning — check shape, nulls, dtypes, and value ranges. A clean dataset without a cleaning log is incomplete.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544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 Exercise — Applying All Six Cleaning Types on a Real Dataset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Your Blueprint — What You Already Know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667512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1" dirty="0">
                <a:solidFill>
                  <a:srgbClr val="64748B"/>
                </a:solidFill>
                <a:latin typeface="Calibri"/>
              </a:rPr>
              <a:t>A quick recap before we execute. Every fix today is already justified.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882896"/>
            <a:ext cx="8449056" cy="260603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0" dirty="0">
                <a:solidFill>
                  <a:srgbClr val="64748B"/>
                </a:solidFill>
                <a:latin typeface="Calibri"/>
              </a:rPr>
              <a:t>Data Analytics  |  Data Cleaning — Theory &amp; Practice  |  Python (pandas)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886968"/>
            <a:ext cx="844905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0" i="1" dirty="0">
                <a:solidFill>
                  <a:srgbClr val="64748B"/>
                </a:solidFill>
                <a:latin typeface="Calibri"/>
              </a:rPr>
              <a:t>You found the problems. The policies gave you the rules. Today we execute.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188720"/>
            <a:ext cx="1737360" cy="3108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20624" y="1225296"/>
            <a:ext cx="1609343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1188720"/>
            <a:ext cx="2377440" cy="3108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1225296"/>
            <a:ext cx="2249424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EDA Found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1188720"/>
            <a:ext cx="2377440" cy="3108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1225296"/>
            <a:ext cx="2249424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Business Rule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1188720"/>
            <a:ext cx="1847088" cy="3108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1225296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499616"/>
            <a:ext cx="54864" cy="402336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499616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1499616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1499616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1499616"/>
            <a:ext cx="18470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1545336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gpa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1545336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518 nulls + 81 'N/A' strings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1545336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Nullable for 1st-sem only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1545336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Replace N/A→NaN, fill median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920240"/>
            <a:ext cx="54864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920240"/>
            <a:ext cx="173736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1920240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1920240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1920240"/>
            <a:ext cx="1847088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1965960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last_name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1965960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~120 null rows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1965960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Required — cannot be empty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1965960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Drop rows where null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340864"/>
            <a:ext cx="54864" cy="40233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340864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2340864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2340864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2340864"/>
            <a:ext cx="18470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2386584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student_id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2386584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400 duplicate IDs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2386584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Must be unique per student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2386584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drop_duplicates keep=first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761488"/>
            <a:ext cx="54864" cy="402336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761488"/>
            <a:ext cx="173736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2761488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2761488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2761488"/>
            <a:ext cx="1847088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2807208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age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2807208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~300 outliers (0, 999, negatives)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2807208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Valid range: 16-26 (undergrads)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2807208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Replace out-of-range with NaN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182112"/>
            <a:ext cx="54864" cy="40233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182112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3182112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3182112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3182112"/>
            <a:ext cx="18470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3227832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gender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3227832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21 unique variants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3227832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Only M / F accepted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3227832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Map all variants to M or F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602736"/>
            <a:ext cx="54864" cy="40233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602736"/>
            <a:ext cx="173736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3602736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3602736"/>
            <a:ext cx="2377440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3602736"/>
            <a:ext cx="1847088" cy="402336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3648456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contact_no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3648456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~145 dashes, ~150 wrong length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3648456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11 digits, no dashes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3648456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Strip dashes, flag wrong len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4023360"/>
            <a:ext cx="54864" cy="40233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4023360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2121408" y="402336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535424" y="402336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949440" y="4023360"/>
            <a:ext cx="18470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4069080"/>
            <a:ext cx="1572768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department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194560" y="4069080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C0392B"/>
                </a:solidFill>
                <a:latin typeface="Courier New"/>
              </a:rPr>
              <a:t>~200 inconsistent codes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608576" y="4069080"/>
            <a:ext cx="2231136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10 approved dept codes only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7022592" y="4069080"/>
            <a:ext cx="1700784" cy="31089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Map variants to standard code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1" i="1" dirty="0">
                <a:solidFill>
                  <a:srgbClr val="E07B2A"/>
                </a:solidFill>
                <a:latin typeface="Calibri"/>
              </a:rPr>
              <a:t>This table is your cleaning contract. Every fix today traces back to your EDA report and business policy decisions.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The Chain — Every Fix Must Be Justified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667512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1" dirty="0">
                <a:solidFill>
                  <a:srgbClr val="64748B"/>
                </a:solidFill>
                <a:latin typeface="Calibri"/>
              </a:rPr>
              <a:t>EDA Finding  →  Business Rule  →  Cleaning Code  |  No chain = no action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882896"/>
            <a:ext cx="8449056" cy="260603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0" dirty="0">
                <a:solidFill>
                  <a:srgbClr val="64748B"/>
                </a:solidFill>
                <a:latin typeface="Calibri"/>
              </a:rPr>
              <a:t>Data Analytics  |  Data Cleaning — Theory &amp; Practice  |  Python (pandas)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886968"/>
            <a:ext cx="844905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0" i="1" dirty="0">
                <a:solidFill>
                  <a:srgbClr val="64748B"/>
                </a:solidFill>
                <a:latin typeface="Calibri"/>
              </a:rPr>
              <a:t>Every single cleaning action today follows this chain. If a fix cannot be traced back to both, we do not do it.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188720"/>
            <a:ext cx="2633472" cy="32918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20624" y="1207008"/>
            <a:ext cx="2505456" cy="29260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EDA FOUND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517904"/>
            <a:ext cx="263347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57200" y="1554480"/>
            <a:ext cx="2432303" cy="1243584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gpa: 518 nulls
+ 81 'N/A' strings
dtype = object
(should be float)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145536" y="1188720"/>
            <a:ext cx="2633472" cy="329184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218688" y="1207008"/>
            <a:ext cx="2505456" cy="29260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BUSINESS RULE SAYS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145536" y="1517904"/>
            <a:ext cx="263347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2A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255264" y="1554480"/>
            <a:ext cx="2432303" cy="1243584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50" b="0" i="0" dirty="0">
                <a:solidFill>
                  <a:srgbClr val="1A2332"/>
                </a:solidFill>
                <a:latin typeface="Calibri"/>
              </a:rPr>
              <a:t>GPA nullable for
1st-semester students.
'N/A' is not a valid null.
Must store as NaN.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943600" y="1188720"/>
            <a:ext cx="2633472" cy="329184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6016752" y="1207008"/>
            <a:ext cx="2505456" cy="29260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CLEANING CODE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943600" y="1517904"/>
            <a:ext cx="2633472" cy="1316736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6053328" y="1554480"/>
            <a:ext cx="2432303" cy="1243584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50" b="0" i="0" dirty="0">
                <a:solidFill>
                  <a:srgbClr val="A8D8B0"/>
                </a:solidFill>
                <a:latin typeface="Courier New"/>
              </a:rPr>
              <a:t>df.replace('N/A',np.nan)
df['gpa'].fillna(
   df['gpa'].median(),
   inplace=True)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889504" y="2011680"/>
            <a:ext cx="402336" cy="2743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687568" y="2011680"/>
            <a:ext cx="402336" cy="2743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926080"/>
            <a:ext cx="8449056" cy="36576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2980944"/>
            <a:ext cx="2743200" cy="219456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1" i="0" dirty="0">
                <a:solidFill>
                  <a:srgbClr val="1A2332"/>
                </a:solidFill>
                <a:latin typeface="Calibri"/>
              </a:rPr>
              <a:t>Another example — gender: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236976"/>
            <a:ext cx="2633472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02336" y="3246120"/>
            <a:ext cx="2542032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850" b="1" i="0" dirty="0">
                <a:solidFill>
                  <a:srgbClr val="FFFFFF"/>
                </a:solidFill>
                <a:latin typeface="Calibri"/>
              </a:rPr>
              <a:t>EDA FOUND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493008"/>
            <a:ext cx="2633472" cy="1060704"/>
          </a:xfrm>
          <a:prstGeom prst="rect">
            <a:avLst/>
          </a:prstGeom>
          <a:solidFill>
            <a:srgbClr val="E8EDF0"/>
          </a:solidFill>
          <a:ln w="12700">
            <a:solidFill>
              <a:srgbClr val="0E749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38912" y="3529584"/>
            <a:ext cx="2468879" cy="987552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00" b="0" i="0" dirty="0">
                <a:solidFill>
                  <a:srgbClr val="1A2332"/>
                </a:solidFill>
                <a:latin typeface="Calibri"/>
              </a:rPr>
              <a:t>gender: 21 unique values
'male','MALE','m',
'Female','female'...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145536" y="3236976"/>
            <a:ext cx="2633472" cy="25603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200400" y="3246120"/>
            <a:ext cx="2542032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850" b="1" i="0" dirty="0">
                <a:solidFill>
                  <a:srgbClr val="FFFFFF"/>
                </a:solidFill>
                <a:latin typeface="Calibri"/>
              </a:rPr>
              <a:t>BUSINESS RULE SAYS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145536" y="3493008"/>
            <a:ext cx="2633472" cy="1060704"/>
          </a:xfrm>
          <a:prstGeom prst="rect">
            <a:avLst/>
          </a:prstGeom>
          <a:solidFill>
            <a:srgbClr val="E8EDF0"/>
          </a:solidFill>
          <a:ln w="12700">
            <a:solidFill>
              <a:srgbClr val="E07B2A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236976" y="3529584"/>
            <a:ext cx="2468879" cy="987552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00" b="0" i="0" dirty="0">
                <a:solidFill>
                  <a:srgbClr val="1A2332"/>
                </a:solidFill>
                <a:latin typeface="Calibri"/>
              </a:rPr>
              <a:t>Enrollment form uses
only 'M' and 'F'.
No other values allowed.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943600" y="3236976"/>
            <a:ext cx="2633472" cy="256032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998464" y="3246120"/>
            <a:ext cx="2542032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850" b="1" i="0" dirty="0">
                <a:solidFill>
                  <a:srgbClr val="FFFFFF"/>
                </a:solidFill>
                <a:latin typeface="Calibri"/>
              </a:rPr>
              <a:t>CLEANING CODE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943600" y="3493008"/>
            <a:ext cx="2633472" cy="1060704"/>
          </a:xfrm>
          <a:prstGeom prst="rect">
            <a:avLst/>
          </a:prstGeom>
          <a:solidFill>
            <a:srgbClr val="141E2B"/>
          </a:solidFill>
          <a:ln w="12700">
            <a:solidFill>
              <a:srgbClr val="1B6B3A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6035040" y="3529584"/>
            <a:ext cx="2468879" cy="987552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900" b="0" i="0" dirty="0">
                <a:solidFill>
                  <a:srgbClr val="A8D8B0"/>
                </a:solidFill>
                <a:latin typeface="Courier New"/>
              </a:rPr>
              <a:t>gmap={'male':'M','MALE':'M',
'female':'F','Female':'F'}
df['gender'].replace(gmap)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2889504" y="3858768"/>
            <a:ext cx="402336" cy="2743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8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687568" y="3858768"/>
            <a:ext cx="402336" cy="2743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8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1" i="0" dirty="0">
                <a:solidFill>
                  <a:srgbClr val="E07B2A"/>
                </a:solidFill>
                <a:latin typeface="Calibri"/>
              </a:rPr>
              <a:t>No EDA finding + no business rule = no cleaning action. This is the discipline that separates professional cleaning from guesswork.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What We Fix Today — 6 Cleaning Types on Real Data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667512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1" dirty="0">
                <a:solidFill>
                  <a:srgbClr val="64748B"/>
                </a:solidFill>
                <a:latin typeface="Calibri"/>
              </a:rPr>
              <a:t>All decisions already justified. Blueprint confirmed. Let's execute.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882896"/>
            <a:ext cx="8449056" cy="260603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00" b="0" i="0" dirty="0">
                <a:solidFill>
                  <a:srgbClr val="64748B"/>
                </a:solidFill>
                <a:latin typeface="Calibri"/>
              </a:rPr>
              <a:t>Data Analytics  |  Data Cleaning — Theory &amp; Practice  |  Python (pandas)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886968"/>
            <a:ext cx="844905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000" b="0" i="1" dirty="0">
                <a:solidFill>
                  <a:srgbClr val="64748B"/>
                </a:solidFill>
                <a:latin typeface="Calibri"/>
              </a:rPr>
              <a:t>Each part below traces to a specific EDA finding and a specific business rule. No new decisions needed.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1188720"/>
            <a:ext cx="402336" cy="11155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65760" y="157276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749808" y="1188720"/>
            <a:ext cx="3822191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124358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Missing Values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148132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0E7490"/>
                </a:solidFill>
                <a:latin typeface="Calibri"/>
              </a:rPr>
              <a:t>Fields: gpa, last_name, email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166420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518 null gpa + 81 N/A strings; ~120 null last_name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195681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GPA nullable 1st sem. last_name required.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681728" y="1188720"/>
            <a:ext cx="402336" cy="1115568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700016" y="157276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084064" y="1188720"/>
            <a:ext cx="3822191" cy="1115568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124358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Duplicate Records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148132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E07B2A"/>
                </a:solidFill>
                <a:latin typeface="Calibri"/>
              </a:rPr>
              <a:t>Fields: student_id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166420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400 duplicate IDs found in EDA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195681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One record per student. student_id unique.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2377440"/>
            <a:ext cx="402336" cy="111556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65760" y="276148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749808" y="2377440"/>
            <a:ext cx="3822191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243230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Format &amp; Structural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267004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1B6B3A"/>
                </a:solidFill>
                <a:latin typeface="Calibri"/>
              </a:rPr>
              <a:t>Fields: names, gender, status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285292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~160 ALL-CAPS names; ~180 gender variants; whitespace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314553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Title Case. M/F only. Standard status codes.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681728" y="2377440"/>
            <a:ext cx="402336" cy="11155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700016" y="276148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084064" y="2377440"/>
            <a:ext cx="3822191" cy="1115568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243230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Outlier Detection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267004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C0392B"/>
                </a:solidFill>
                <a:latin typeface="Calibri"/>
              </a:rPr>
              <a:t>Fields: age, gpa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285292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~300 age outliers; ~330 GPA outside 1.00-3.50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314553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Age 16-26. GPA 1.00-3.50 (PH scale).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347472" y="3566160"/>
            <a:ext cx="402336" cy="11155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65760" y="395020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749808" y="3566160"/>
            <a:ext cx="3822191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362102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Incorrect Values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385876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0E7490"/>
                </a:solidFill>
                <a:latin typeface="Calibri"/>
              </a:rPr>
              <a:t>Fields: year_level, email, names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404164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~180 invalid yr_lvl; ~150 bad gender; ~100 placeholders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822960" y="433425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yr_level 1-5. Institutional email only.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4681728" y="3566160"/>
            <a:ext cx="402336" cy="1115568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4700016" y="3950208"/>
            <a:ext cx="365760" cy="32918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5084064" y="3566160"/>
            <a:ext cx="3822191" cy="1115568"/>
          </a:xfrm>
          <a:prstGeom prst="rect">
            <a:avLst/>
          </a:prstGeom>
          <a:solidFill>
            <a:srgbClr val="E8EDF0"/>
          </a:solidFill>
          <a:ln w="9525">
            <a:solidFill>
              <a:srgbClr val="E8EDF0"/>
            </a:solidFill>
          </a:ln>
        </p:spPr>
        <p:txBody>
          <a:bodyPr/>
          <a:lstStyle/>
          <a:p/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3621024"/>
            <a:ext cx="3694176" cy="2377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1100" b="1" i="0" dirty="0">
                <a:solidFill>
                  <a:srgbClr val="1A2332"/>
                </a:solidFill>
                <a:latin typeface="Calibri"/>
              </a:rPr>
              <a:t>Standardization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3858768"/>
            <a:ext cx="3694176" cy="18288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880" b="0" i="0" dirty="0">
                <a:solidFill>
                  <a:srgbClr val="E07B2A"/>
                </a:solidFill>
                <a:latin typeface="Calibri"/>
              </a:rPr>
              <a:t>Fields: contact_no, department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4041648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0" i="0" dirty="0">
                <a:solidFill>
                  <a:srgbClr val="64748B"/>
                </a:solidFill>
                <a:latin typeface="Calibri"/>
              </a:rPr>
              <a:t>EDA: ~145 dashes; ~150 wrong length; ~200 inconsistent depts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5157216" y="4334256"/>
            <a:ext cx="3694176" cy="274320"/>
          </a:xfrm>
          <a:prstGeom prst="rect">
            <a:avLst/>
          </a:prstGeom>
          <a:noFill/>
        </p:spPr>
        <p:txBody>
          <a:bodyPr wrap="square" lIns="45720" rIns="45720" tIns="22860" bIns="22860" anchor="top"/>
          <a:lstStyle/>
          <a:p>
            <a:pPr algn="left"/>
            <a:r>
              <a:rPr lang="en-US" sz="840" b="1" i="0" dirty="0">
                <a:solidFill>
                  <a:srgbClr val="1B6B3A"/>
                </a:solidFill>
                <a:latin typeface="Calibri"/>
              </a:rPr>
              <a:t>Rule: contact_no 11 digits. 10 approved dept codes.</a:t>
            </a:r>
          </a:p>
        </p:txBody>
      </p:sp>
      <p:sp>
        <p:nvSpPr>
          <p:cNvPr id="2" name="t"/>
          <p:cNvSpPr txBox="1">
            <a:spLocks noGrp="1" noRot="1"/>
          </p:cNvSpPr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eft"/>
            <a:r>
              <a:rPr lang="en-US" sz="920" b="1" i="0" dirty="0">
                <a:solidFill>
                  <a:srgbClr val="1A2332"/>
                </a:solidFill>
                <a:latin typeface="Calibri"/>
              </a:rPr>
              <a:t>Blueprint confirmed. Open Jupyter. Load enrollment_dirty_10k.csv. Let us clean.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7078</Words>
  <Application>Microsoft Office PowerPoint</Application>
  <PresentationFormat>On-screen Show (16:9)</PresentationFormat>
  <Paragraphs>1315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— Theory and Practice</dc:title>
  <dc:subject>PptxGenJS Presentation</dc:subject>
  <dc:creator>PptxGenJS</dc:creator>
  <cp:lastModifiedBy>DOST3 MIS</cp:lastModifiedBy>
  <cp:revision>4</cp:revision>
  <dcterms:created xsi:type="dcterms:W3CDTF">2026-03-30T07:54:50Z</dcterms:created>
  <dcterms:modified xsi:type="dcterms:W3CDTF">2026-03-30T08:41:04Z</dcterms:modified>
</cp:coreProperties>
</file>